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Исходное содержание слайда (сохранено для сверки):</a:t>
            </a:r>
          </a:p>
          <a:p/>
          <a:p>
            <a:r>
              <a:t>ВЕКТОР</a:t>
            </a:r>
          </a:p>
          <a:p/>
          <a:p>
            <a:r>
              <a:t>МЕЖДУНАРОДНАЯ ЯРМАРКА</a:t>
            </a:r>
            <a:br/>
            <a:r>
              <a:t>СОВРЕМЕННОГО ИСКУССТВА</a:t>
            </a:r>
          </a:p>
          <a:p/>
          <a:p/>
          <a:p/>
          <a:p>
            <a:r>
              <a:t>ПРЕДЛОЖЕНИЕ ДЛЯ COSMOS HOTEL GROUP</a:t>
            </a:r>
          </a:p>
          <a:p/>
          <a:p>
            <a:r>
              <a:t>КОНЕЦ АПРЕЛЯ 2027</a:t>
            </a:r>
          </a:p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Исходное содержание слайда (сохранено для сверки):</a:t>
            </a:r>
          </a:p>
          <a:p/>
          <a:p>
            <a:r>
              <a:t>ВЕКТОР</a:t>
            </a:r>
          </a:p>
          <a:p/>
          <a:p>
            <a:r>
              <a:t>01</a:t>
            </a:r>
          </a:p>
          <a:p/>
          <a:p/>
          <a:p/>
          <a:p>
            <a:r>
              <a:t>О ЯРМАРКЕ</a:t>
            </a:r>
          </a:p>
          <a:p/>
          <a:p>
            <a:r>
              <a:t>ВЕКТОР: МЕЖДУНАРОДНАЯ ЯРМАРКА СОВРЕМЕННОГО ИСКУССТВА</a:t>
            </a:r>
          </a:p>
          <a:p/>
          <a:p/>
          <a:p/>
          <a:p>
            <a:r>
              <a:t>ВЕКТОР создаётся как ежегодная площадка для ведущих российских и зарубежных галерей, коллекционеров, бизнеса и культурных институций.</a:t>
            </a:r>
          </a:p>
          <a:p/>
          <a:p>
            <a:r>
              <a:t>Проект сочетает строгий кураторский отбор, международное участие и работу с аудиторией коллекционеров и предпринимателей.</a:t>
            </a:r>
          </a:p>
          <a:p/>
          <a:p>
            <a:r>
              <a:t>ПЛАН ПЕРВОГО ВЫПУСКА: 30 ГАЛЕРЕЙ, ДО 40% МЕЖДУНАРОДНЫХ УЧАСТНИКОВ И 15 000 ПОСЕТИТЕЛЕЙ</a:t>
            </a:r>
          </a:p>
          <a:p/>
          <a:p>
            <a:r>
              <a:t>ВЕДУЩИХ РОССИЙСКИХ </a:t>
            </a:r>
          </a:p>
          <a:p>
            <a:r>
              <a:t>И ЗАРУБЕЖНЫХ ГАЛЕРЕЙ</a:t>
            </a:r>
          </a:p>
          <a:p/>
          <a:p>
            <a:r>
              <a:t>30</a:t>
            </a:r>
          </a:p>
          <a:p/>
          <a:p>
            <a:r>
              <a:t>МЕЖДУНАРОДНЫХ</a:t>
            </a:r>
          </a:p>
          <a:p>
            <a:r>
              <a:t>УЧАСТНИКОВ (ПЛАН)</a:t>
            </a:r>
          </a:p>
          <a:p/>
          <a:p>
            <a:r>
              <a:t>40%</a:t>
            </a:r>
          </a:p>
          <a:p/>
          <a:p>
            <a:r>
              <a:t>ПОСЕТИТЕЛЕЙ</a:t>
            </a:r>
          </a:p>
          <a:p>
            <a:r>
              <a:t>ПЕРВОГО ВЫПУСКА (ПЛАН)</a:t>
            </a:r>
          </a:p>
          <a:p/>
          <a:p>
            <a:r>
              <a:t>15 000</a:t>
            </a:r>
          </a:p>
          <a:p/>
          <a:p>
            <a:r>
              <a:t>5 ДНЕЙ</a:t>
            </a:r>
          </a:p>
          <a:p>
            <a:r>
              <a:t>ЯРМАРКА + VIP-PREVIEW</a:t>
            </a:r>
          </a:p>
          <a:p/>
          <a:p>
            <a:r>
              <a:t>1 ХУДОЖНИК</a:t>
            </a:r>
          </a:p>
          <a:p>
            <a:r>
              <a:t>НА КАЖДОМ СТЕНДЕ</a:t>
            </a:r>
          </a:p>
          <a:p/>
          <a:p>
            <a:r>
              <a:t>НОВЫЙ МАНЕЖ</a:t>
            </a:r>
          </a:p>
          <a:p>
            <a:r>
              <a:t>МОСКВА, ГЕОРГИЕВСКИЙ ПЕР., 3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Исходное содержание слайда (сохранено для сверки):</a:t>
            </a:r>
          </a:p>
          <a:p/>
          <a:p>
            <a:r>
              <a:t>НОВЫЙ МАНЕЖ, АПРЕЛЬ 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Исходное содержание слайда (сохранено для сверки):</a:t>
            </a:r>
          </a:p>
          <a:p/>
          <a:p>
            <a:r>
              <a:t>ВЕКТОР</a:t>
            </a:r>
          </a:p>
          <a:p/>
          <a:p>
            <a:r>
              <a:t>03</a:t>
            </a:r>
          </a:p>
          <a:p/>
          <a:p/>
          <a:p/>
          <a:p>
            <a:r>
              <a:t>ПОЧЕМУ ВЕКТОР?</a:t>
            </a:r>
          </a:p>
          <a:p/>
          <a:p>
            <a:r>
              <a:t>Предпосылки создания проекта</a:t>
            </a:r>
          </a:p>
          <a:p/>
          <a:p/>
          <a:p/>
          <a:p>
            <a:r>
              <a:t>ВЕКТОР формирует международную площадку для сотрудничества российских и зарубежных галерей, коллекционеров, музеев и культурных институций.</a:t>
            </a:r>
          </a:p>
          <a:p/>
          <a:p>
            <a:r>
              <a:t>В основе проекта: персональные приглашения галереям, строгий кураторский отбор и участие зарубежного профессионального сообщества.</a:t>
            </a:r>
          </a:p>
          <a:p/>
          <a:p>
            <a:r>
              <a:t>Своевременность проекта</a:t>
            </a:r>
          </a:p>
          <a:p/>
          <a:p/>
          <a:p/>
          <a:p>
            <a:r>
              <a:t>▪  Развитие культурного сотрудничества со странами Азии, Ближнего Востока и другими регионами.</a:t>
            </a:r>
          </a:p>
          <a:p/>
          <a:p>
            <a:r>
              <a:t>▪  Расширение профессионального взаимодействия российских и зарубежных галерей.</a:t>
            </a:r>
          </a:p>
          <a:p/>
          <a:p>
            <a:r>
              <a:t>▪  Новые возможности для знакомства коллекционеров с международным искусством.</a:t>
            </a:r>
          </a:p>
          <a:p/>
          <a:p>
            <a:r>
              <a:t>▪  Высокие стандарты отбора участников и организации ярмарки.</a:t>
            </a:r>
          </a:p>
          <a:p/>
          <a:p>
            <a:r>
              <a:t>Целеполагание </a:t>
            </a:r>
          </a:p>
          <a:p/>
          <a:p/>
          <a:p/>
          <a:p>
            <a:r>
              <a:t>Создать ежегодную международную ярмарку современного искусства, которая объединяет ведущие галереи, коллекционеров, бизнес и культурные институции.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Исходное содержание слайда (сохранено для сверки):</a:t>
            </a:r>
          </a:p>
          <a:p/>
          <a:p>
            <a:r>
              <a:t>ВЕКТОР</a:t>
            </a:r>
          </a:p>
          <a:p/>
          <a:p>
            <a:r>
              <a:t>04</a:t>
            </a:r>
          </a:p>
          <a:p/>
          <a:p/>
          <a:p/>
          <a:p>
            <a:r>
              <a:t>КОНЦЕПЦИЯ ВЕКТОР</a:t>
            </a:r>
          </a:p>
          <a:p/>
          <a:p>
            <a:r>
              <a:t>ВЕКТОР — МЕЖДУНАРОДНАЯ ЯРМАРКА СОВРЕМЕННОГО ИСКУССТВА</a:t>
            </a:r>
          </a:p>
          <a:p/>
          <a:p>
            <a:r>
              <a:t>Новый проект, направленный на создание одной из ведущих арт-ярмарок России и формирование нового центра притяжения для коллекционеров, бизнеса и культурных институций. Проект реализуется при поддержке Правительства Москвы.</a:t>
            </a:r>
          </a:p>
          <a:p/>
          <a:p/>
          <a:p/>
          <a:p/>
          <a:p/>
          <a:p/>
          <a:p/>
          <a:p>
            <a:r>
              <a:t>1</a:t>
            </a:r>
          </a:p>
          <a:p/>
          <a:p>
            <a:r>
              <a:t>Флагманская арт-ярмарка</a:t>
            </a:r>
          </a:p>
          <a:p/>
          <a:p>
            <a:r>
              <a:t>Создание нового международного центра притяжения для коллекционеров, бизнеса и культурных институций.</a:t>
            </a:r>
          </a:p>
          <a:p/>
          <a:p/>
          <a:p/>
          <a:p/>
          <a:p/>
          <a:p>
            <a:r>
              <a:t>2</a:t>
            </a:r>
          </a:p>
          <a:p/>
          <a:p>
            <a:r>
              <a:t>Развитие арт-рынка</a:t>
            </a:r>
          </a:p>
          <a:p/>
          <a:p>
            <a:r>
              <a:t>Формирование устойчивой платформы для роста российского и международного арт-рынка.</a:t>
            </a:r>
          </a:p>
          <a:p/>
          <a:p/>
          <a:p/>
          <a:p/>
          <a:p/>
          <a:p>
            <a:r>
              <a:t>3</a:t>
            </a:r>
          </a:p>
          <a:p/>
          <a:p>
            <a:r>
              <a:t>Лидерство в России</a:t>
            </a:r>
          </a:p>
          <a:p/>
          <a:p>
            <a:r>
              <a:t>Вхождение в тройку главных </a:t>
            </a:r>
          </a:p>
          <a:p>
            <a:r>
              <a:t>арт-ярмарок России</a:t>
            </a:r>
          </a:p>
          <a:p/>
          <a:p/>
          <a:p/>
          <a:p>
            <a:r>
              <a:t>Музейный уровень</a:t>
            </a:r>
          </a:p>
          <a:p/>
          <a:p>
            <a:r>
              <a:t>Строгий кураторский отбор произведений музейного уровня и ведущих художников современности</a:t>
            </a:r>
          </a:p>
          <a:p/>
          <a:p/>
          <a:p/>
          <a:p>
            <a:r>
              <a:t>Один художник на стенде</a:t>
            </a:r>
          </a:p>
          <a:p/>
          <a:p>
            <a:r>
              <a:t>До 30 ведущих российских и международных галерей, каждая из которых представляет одного художника</a:t>
            </a:r>
          </a:p>
          <a:p/>
          <a:p/>
          <a:p/>
          <a:p>
            <a:r>
              <a:t>Международное участие</a:t>
            </a:r>
          </a:p>
          <a:p/>
          <a:p>
            <a:r>
              <a:t>Участие галерей из дружественных стран, развитие культурного обмена. Проведение в Новом Манеже при поддержке Правительства Москвы</a:t>
            </a:r>
          </a:p>
          <a:p/>
          <a:p>
            <a:r>
              <a:t>Стратегические цели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Исходное содержание слайда (сохранено для сверки):</a:t>
            </a:r>
          </a:p>
          <a:p/>
          <a:p>
            <a:r>
              <a:t>ВЕКТОР</a:t>
            </a:r>
          </a:p>
          <a:p/>
          <a:p>
            <a:r>
              <a:t>05</a:t>
            </a:r>
          </a:p>
          <a:p/>
          <a:p/>
          <a:p/>
          <a:p>
            <a:r>
              <a:t>ПРИНЦИПЫ ОТБОРА</a:t>
            </a:r>
          </a:p>
          <a:p/>
          <a:p>
            <a:r>
              <a:t>КАЧЕСТВО ИСКУССТВА И МЕЖДУНАРОДНЫЙ СОСТАВ</a:t>
            </a:r>
          </a:p>
          <a:p/>
          <a:p>
            <a:r>
              <a:t>Персональные приглашения</a:t>
            </a:r>
          </a:p>
          <a:p/>
          <a:p>
            <a:r>
              <a:t>Галереи приглашаются по результатам кураторского отбора.</a:t>
            </a:r>
          </a:p>
          <a:p/>
          <a:p>
            <a:r>
              <a:t>Один художник на стенде</a:t>
            </a:r>
          </a:p>
          <a:p/>
          <a:p>
            <a:r>
              <a:t>Каждая галерея представляет цельный персональный проект.</a:t>
            </a:r>
          </a:p>
          <a:p/>
          <a:p>
            <a:r>
              <a:t>Музейный уровень</a:t>
            </a:r>
          </a:p>
          <a:p/>
          <a:p>
            <a:r>
              <a:t>В фокусе произведения и художники высокого профессионального уровня.</a:t>
            </a:r>
          </a:p>
          <a:p/>
          <a:p>
            <a:r>
              <a:t>Международное участие</a:t>
            </a:r>
          </a:p>
          <a:p/>
          <a:p>
            <a:r>
              <a:t>Целевой состав: до 30 галерей, до 40% зарубежных участников.</a:t>
            </a:r>
          </a:p>
          <a:p/>
          <a:p>
            <a:r>
              <a:t>Сильный состав участников формирует репутацию ярмарки с первого выпуска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Исходное содержание слайда (сохранено для сверки):</a:t>
            </a:r>
          </a:p>
          <a:p/>
          <a:p>
            <a:r>
              <a:t>ВЕКТОР</a:t>
            </a:r>
          </a:p>
          <a:p/>
          <a:p>
            <a:r>
              <a:t>06</a:t>
            </a:r>
          </a:p>
          <a:p/>
          <a:p/>
          <a:p/>
          <a:p>
            <a:r>
              <a:t>МЕЖДУНАРОДНОЕ УЧАСТИЕ</a:t>
            </a:r>
          </a:p>
          <a:p/>
          <a:p>
            <a:r>
              <a:t>ПЛАТФОРМА МЕЖДУНАРОДНОГО СОТРУДНИЧЕСТВА В СФЕРЕ СОВРЕМЕННОГО ИСКУССТВА</a:t>
            </a:r>
          </a:p>
          <a:p/>
          <a:p>
            <a:r>
              <a:t>Международное участие является ключевым принципом формирования ярмарки. ВЕКТОР ориентирован на развитие долгосрочного сотрудничества с галереями, культурными институциями и профессиональным сообществом стран, заинтересованных в культурном взаимодействии с Россией.</a:t>
            </a:r>
          </a:p>
          <a:p/>
          <a:p>
            <a:r>
              <a:t>▪  Привлечение ведущих зарубежных галерей к участию в ярмарке.</a:t>
            </a:r>
          </a:p>
          <a:p>
            <a:r>
              <a:t>▪  Развитие культурного обмена между Россией и дружественными странами.</a:t>
            </a:r>
          </a:p>
          <a:p>
            <a:r>
              <a:t>▪  Расширение международной сети партнеров и институций.</a:t>
            </a:r>
          </a:p>
          <a:p>
            <a:r>
              <a:t>▪  Продвижение российских художников на зарубежные рынки.</a:t>
            </a:r>
          </a:p>
          <a:p>
            <a:r>
              <a:t>▪  Формирование устойчивого международного статуса ВЕКТОР.</a:t>
            </a:r>
          </a:p>
          <a:p/>
          <a:p>
            <a:r>
              <a:t>Целевой показатель</a:t>
            </a:r>
          </a:p>
          <a:p/>
          <a:p/>
          <a:p/>
          <a:p>
            <a:r>
              <a:t>До 40% участников ярмарки — зарубежные галереи и культурные институции.</a:t>
            </a:r>
          </a:p>
          <a:p/>
          <a:p>
            <a:r>
              <a:t>ЗАДАЧИ МЕЖДУНАРОДНОГО</a:t>
            </a:r>
          </a:p>
          <a:p>
            <a:r>
              <a:t>УЧАСТИЯ</a:t>
            </a:r>
          </a:p>
          <a:p/>
          <a:p/>
          <a:p/>
          <a:p>
            <a:r>
              <a:t>▪  Китай</a:t>
            </a:r>
          </a:p>
          <a:p>
            <a:r>
              <a:t>▪  Вьетнам</a:t>
            </a:r>
          </a:p>
          <a:p>
            <a:r>
              <a:t>▪  Индонезия</a:t>
            </a:r>
          </a:p>
          <a:p>
            <a:r>
              <a:t>▪  Индия</a:t>
            </a:r>
          </a:p>
          <a:p>
            <a:r>
              <a:t>▪  Южная Корея</a:t>
            </a:r>
          </a:p>
          <a:p>
            <a:r>
              <a:t>▪  Таиланд </a:t>
            </a:r>
          </a:p>
          <a:p/>
          <a:p>
            <a:r>
              <a:t>ПРИОРИТЕТНЫЕ </a:t>
            </a:r>
          </a:p>
          <a:p>
            <a:r>
              <a:t>РЕГИОНЫ</a:t>
            </a:r>
          </a:p>
          <a:p/>
          <a:p/>
          <a:p/>
          <a:p>
            <a:r>
              <a:t>АЗИЯ</a:t>
            </a:r>
          </a:p>
          <a:p/>
          <a:p>
            <a:r>
              <a:t>▪  ОАЭ</a:t>
            </a:r>
          </a:p>
          <a:p>
            <a:r>
              <a:t>▪  Катар</a:t>
            </a:r>
          </a:p>
          <a:p/>
          <a:p>
            <a:r>
              <a:t>БЛИЖНИЙ ВОСТОК</a:t>
            </a:r>
          </a:p>
          <a:p/>
          <a:p>
            <a:r>
              <a:t>▪  Мексика</a:t>
            </a:r>
          </a:p>
          <a:p>
            <a:r>
              <a:t>▪  Аргентина</a:t>
            </a:r>
          </a:p>
          <a:p>
            <a:r>
              <a:t>▪ Бразилия</a:t>
            </a:r>
          </a:p>
          <a:p/>
          <a:p>
            <a:r>
              <a:t>ЮЖНАЯ АМЕРИКА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Исходное содержание слайда (сохранено для сверки):</a:t>
            </a:r>
          </a:p>
          <a:p/>
          <a:p>
            <a:r>
              <a:t>ВЕКТОР</a:t>
            </a:r>
          </a:p>
          <a:p/>
          <a:p>
            <a:r>
              <a:t>07</a:t>
            </a:r>
          </a:p>
          <a:p/>
          <a:p/>
          <a:p/>
          <a:p>
            <a:r>
              <a:t>АУДИТОРИЯ ЯРМАРКИ</a:t>
            </a:r>
          </a:p>
          <a:p/>
          <a:p>
            <a:r>
              <a:t>СООБЩЕСТВО КОЛЛЕКЦИОНЕРОВ, БИЗНЕСА И ЛИДЕРОВ КУЛЬТУРНОЙ СРЕДЫ</a:t>
            </a:r>
          </a:p>
          <a:p/>
          <a:p>
            <a:r>
              <a:t>ВЕКТОР объединит коллекционеров, предпринимателей и профессиональное арт-сообщество. Партнёры смогут познакомить эту аудиторию со своими услугами и развивать деловые контакты.</a:t>
            </a:r>
          </a:p>
          <a:p/>
          <a:p/>
          <a:p/>
          <a:p>
            <a:r>
              <a:t>Коллекционеры</a:t>
            </a:r>
          </a:p>
          <a:p/>
          <a:p>
            <a:r>
              <a:t>Частные коллекционеры современного искусства</a:t>
            </a:r>
          </a:p>
          <a:p>
            <a:r>
              <a:t>Российские и зарубежные</a:t>
            </a:r>
          </a:p>
          <a:p/>
          <a:p>
            <a:r>
              <a:t>Владельцы бизнеса</a:t>
            </a:r>
          </a:p>
          <a:p/>
          <a:p>
            <a:r>
              <a:t>Основатели компаний</a:t>
            </a:r>
          </a:p>
          <a:p>
            <a:r>
              <a:t>Предприниматели</a:t>
            </a:r>
          </a:p>
          <a:p>
            <a:r>
              <a:t>Инвесторы</a:t>
            </a:r>
          </a:p>
          <a:p/>
          <a:p>
            <a:r>
              <a:t>Private Banking</a:t>
            </a:r>
          </a:p>
          <a:p/>
          <a:p>
            <a:r>
              <a:t>Клиенты private banking</a:t>
            </a:r>
          </a:p>
          <a:p>
            <a:r>
              <a:t>Family Office</a:t>
            </a:r>
          </a:p>
          <a:p>
            <a:r>
              <a:t>HNWI / UHNWI</a:t>
            </a:r>
          </a:p>
          <a:p/>
          <a:p/>
          <a:p/>
          <a:p/>
          <a:p/>
          <a:p>
            <a:r>
              <a:t>Креативные индустрии</a:t>
            </a:r>
          </a:p>
          <a:p/>
          <a:p>
            <a:r>
              <a:t>Архитекторы</a:t>
            </a:r>
          </a:p>
          <a:p>
            <a:r>
              <a:t>Дизайнеры</a:t>
            </a:r>
          </a:p>
          <a:p>
            <a:r>
              <a:t>Девелоперы</a:t>
            </a:r>
          </a:p>
          <a:p/>
          <a:p>
            <a:r>
              <a:t>Топ-менеджмент</a:t>
            </a:r>
          </a:p>
          <a:p/>
          <a:p>
            <a:r>
              <a:t>CEO</a:t>
            </a:r>
          </a:p>
          <a:p>
            <a:r>
              <a:t>Председатели </a:t>
            </a:r>
            <a:br/>
            <a:r>
              <a:t>советов директоров</a:t>
            </a:r>
          </a:p>
          <a:p>
            <a:r>
              <a:t>Руководители крупнейших компаний</a:t>
            </a:r>
          </a:p>
          <a:p/>
          <a:p/>
          <a:p/>
          <a:p/>
          <a:p/>
          <a:p/>
          <a:p/>
          <a:p>
            <a:r>
              <a:t>Государство</a:t>
            </a:r>
          </a:p>
          <a:p/>
          <a:p>
            <a:r>
              <a:t>Руководители федеральных органов власти</a:t>
            </a:r>
          </a:p>
          <a:p>
            <a:r>
              <a:t>Правительство Москвы</a:t>
            </a:r>
          </a:p>
          <a:p>
            <a:r>
              <a:t>Дипломатический корпус</a:t>
            </a:r>
          </a:p>
          <a:p>
            <a:r>
              <a:t>Культурные институции</a:t>
            </a:r>
          </a:p>
          <a:p/>
          <a:p>
            <a:r>
              <a:t>ПЛАНИРУЕМАЯ СТРУКТУРА АУДИТОРИИ</a:t>
            </a:r>
          </a:p>
          <a:p/>
          <a:p>
            <a:r>
              <a:t>20%</a:t>
            </a:r>
          </a:p>
          <a:p/>
          <a:p>
            <a:r>
              <a:t>VIP-гости / HNWI</a:t>
            </a:r>
          </a:p>
          <a:p>
            <a:r>
              <a:t>Коллекционеры</a:t>
            </a:r>
          </a:p>
          <a:p/>
          <a:p>
            <a:r>
              <a:t>20%</a:t>
            </a:r>
          </a:p>
          <a:p/>
          <a:p>
            <a:r>
              <a:t>Профессиональное сообщество</a:t>
            </a:r>
          </a:p>
          <a:p/>
          <a:p>
            <a:r>
              <a:t>60%</a:t>
            </a:r>
          </a:p>
          <a:p/>
          <a:p>
            <a:r>
              <a:t>Широкая культурная аудитория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Исходное содержание слайда (сохранено для сверки):</a:t>
            </a:r>
          </a:p>
          <a:p/>
          <a:p>
            <a:r>
              <a:t>ВЕКТОР</a:t>
            </a:r>
          </a:p>
          <a:p/>
          <a:p>
            <a:r>
              <a:t>08</a:t>
            </a:r>
          </a:p>
          <a:p/>
          <a:p/>
          <a:p/>
          <a:p>
            <a:r>
              <a:t>ПОРТРЕТ ЦЕЛЕВОГО ПОСЕТИТЕЛЯ</a:t>
            </a:r>
          </a:p>
          <a:p/>
          <a:p>
            <a:r>
              <a:t>АУДИТОРИЯ, ПРИНИМАЮЩАЯ РЕШЕНИЯ</a:t>
            </a:r>
          </a:p>
          <a:p/>
          <a:p>
            <a:r>
              <a:t>ВЛАДЕЛЕЦ БИЗНЕСА</a:t>
            </a:r>
          </a:p>
          <a:p>
            <a:r>
              <a:t>СЕО / ИНВЕСТОР</a:t>
            </a:r>
          </a:p>
          <a:p/>
          <a:p>
            <a:r>
              <a:t>35 – 60 лет</a:t>
            </a:r>
          </a:p>
          <a:p/>
          <a:p/>
          <a:p/>
          <a:p>
            <a:r>
              <a:t>HNWI / UHNWI</a:t>
            </a:r>
          </a:p>
          <a:p>
            <a:r>
              <a:t>Клиенты private banking</a:t>
            </a:r>
          </a:p>
          <a:p>
            <a:r>
              <a:t>Коллекционеры современного искусства</a:t>
            </a:r>
          </a:p>
          <a:p/>
          <a:p/>
          <a:p/>
          <a:p/>
          <a:p/>
          <a:p/>
          <a:p>
            <a:r>
              <a:t>КТО ОН?</a:t>
            </a:r>
          </a:p>
          <a:p/>
          <a:p>
            <a:r>
              <a:t>Собственник бизнеса</a:t>
            </a:r>
          </a:p>
          <a:p>
            <a:r>
              <a:t>Руководитель компании</a:t>
            </a:r>
          </a:p>
          <a:p>
            <a:r>
              <a:t>Частный инвестор</a:t>
            </a:r>
          </a:p>
          <a:p>
            <a:r>
              <a:t>Топ-менеджер</a:t>
            </a:r>
          </a:p>
          <a:p>
            <a:r>
              <a:t>Коллекционер</a:t>
            </a:r>
          </a:p>
          <a:p/>
          <a:p>
            <a:r>
              <a:t>ЧТО ДЛЯ НЕГО ВАЖНО?</a:t>
            </a:r>
          </a:p>
          <a:p/>
          <a:p>
            <a:r>
              <a:t>ПОЧЕМУ ПРИХОДИТ?</a:t>
            </a:r>
          </a:p>
          <a:p/>
          <a:p>
            <a:r>
              <a:t>ДЛЯ ПАРТНЁРА</a:t>
            </a:r>
          </a:p>
          <a:p/>
          <a:p>
            <a:r>
              <a:t>Статус и репутация</a:t>
            </a:r>
          </a:p>
          <a:p>
            <a:r>
              <a:t>Культурный капитал</a:t>
            </a:r>
          </a:p>
          <a:p>
            <a:r>
              <a:t>Деловые связи и окружение</a:t>
            </a:r>
          </a:p>
          <a:p>
            <a:r>
              <a:t>Инвестиции</a:t>
            </a:r>
          </a:p>
          <a:p>
            <a:r>
              <a:t>Уникальность</a:t>
            </a:r>
          </a:p>
          <a:p/>
          <a:p>
            <a:r>
              <a:t>Покупка искусства</a:t>
            </a:r>
          </a:p>
          <a:p>
            <a:r>
              <a:t>Networking</a:t>
            </a:r>
          </a:p>
          <a:p>
            <a:r>
              <a:t>Закрытые мероприятия</a:t>
            </a:r>
          </a:p>
          <a:p>
            <a:r>
              <a:t>Новые знакомства</a:t>
            </a:r>
          </a:p>
          <a:p>
            <a:r>
              <a:t>Международная среда</a:t>
            </a:r>
          </a:p>
          <a:p/>
          <a:p>
            <a:r>
              <a:t>Высокая покупательная способность</a:t>
            </a:r>
          </a:p>
          <a:p>
            <a:r>
              <a:t>Лоялен к премиальным брендам</a:t>
            </a:r>
          </a:p>
          <a:p>
            <a:r>
              <a:t>Открыт к новым предложениям</a:t>
            </a:r>
          </a:p>
          <a:p/>
          <a:p>
            <a:r>
              <a:t>Стиль жизни:</a:t>
            </a:r>
          </a:p>
          <a:p/>
          <a:p/>
          <a:p/>
          <a:p>
            <a:r>
              <a:t>Регулярные заграничные поездки</a:t>
            </a:r>
          </a:p>
          <a:p>
            <a:r>
              <a:t>Networking и деловые связи</a:t>
            </a:r>
          </a:p>
          <a:p>
            <a:r>
              <a:t>Искусство и коллекционирование</a:t>
            </a:r>
          </a:p>
          <a:p>
            <a:r>
              <a:t>Fine dining и лучшие рестораны</a:t>
            </a:r>
          </a:p>
          <a:p>
            <a:r>
              <a:t>Предметы роскоши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Исходное содержание слайда (сохранено для сверки):</a:t>
            </a:r>
          </a:p>
          <a:p/>
          <a:p/>
          <a:p/>
          <a:p>
            <a:r>
              <a:t>ВЕКТОР</a:t>
            </a:r>
          </a:p>
          <a:p/>
          <a:p>
            <a:r>
              <a:t>09</a:t>
            </a:r>
          </a:p>
          <a:p/>
          <a:p/>
          <a:p/>
          <a:p>
            <a:r>
              <a:t>PR И МЕДИАПОДДЕРЖКА</a:t>
            </a:r>
          </a:p>
          <a:p/>
          <a:p>
            <a:r>
              <a:t>КОМПЛЕКСНАЯ КОММУНИКАЦИОННАЯ КАМПАНИЯ ФЕДЕРАЛЬНОГО УРОВНЯ</a:t>
            </a:r>
          </a:p>
          <a:p/>
          <a:p>
            <a:r>
              <a:t>Коммуникационная стратегия ВЕКТОР направлена на формирование ярмарки как одного из ключевых событий культурной повестки России. Партнер интегрируется во все этапы информационной кампании.</a:t>
            </a:r>
          </a:p>
          <a:p/>
          <a:p>
            <a:r>
              <a:t>ФЕДЕРАЛЬНЫЕ СМИ</a:t>
            </a:r>
          </a:p>
          <a:p/>
          <a:p>
            <a:r>
              <a:t>Цель кампании: 1000 публикаций и упоминаний</a:t>
            </a:r>
          </a:p>
          <a:p>
            <a:r>
              <a:t>Федеральные и профильные СМИ</a:t>
            </a:r>
          </a:p>
          <a:p>
            <a:r>
              <a:t>Телевидение, радио и digital-медиа</a:t>
            </a:r>
          </a:p>
          <a:p>
            <a:r>
              <a:t>Новости, обзоры и материалы о ярмарке</a:t>
            </a:r>
          </a:p>
          <a:p/>
          <a:p>
            <a:r>
              <a:t>Официальный анонс партнёрства</a:t>
            </a:r>
          </a:p>
          <a:p>
            <a:r>
              <a:t>Статус в материалах для прессы</a:t>
            </a:r>
          </a:p>
          <a:p>
            <a:r>
              <a:t>Отдельный инфоповод о размещении галерей</a:t>
            </a:r>
          </a:p>
          <a:p>
            <a:r>
              <a:t>Участие партнёра в согласованных материалах</a:t>
            </a:r>
          </a:p>
          <a:p/>
          <a:p>
            <a:r>
              <a:t>Сайт и социальные сети ярмарки</a:t>
            </a:r>
          </a:p>
          <a:p>
            <a:r>
              <a:t>Email-рассылки</a:t>
            </a:r>
          </a:p>
          <a:p>
            <a:r>
              <a:t>Каталог и цифровые материалы</a:t>
            </a:r>
          </a:p>
          <a:p>
            <a:r>
              <a:t>Фото- и видеоконтент</a:t>
            </a:r>
          </a:p>
          <a:p/>
          <a:p>
            <a:r>
              <a:t>Пресс-показ и VIP Preview</a:t>
            </a:r>
          </a:p>
          <a:p>
            <a:r>
              <a:t>Работа с лидерами мнений</a:t>
            </a:r>
          </a:p>
          <a:p>
            <a:r>
              <a:t>Фото- и видеосъёмка</a:t>
            </a:r>
          </a:p>
          <a:p>
            <a:r>
              <a:t>Освещение открытия и событий ярмарки</a:t>
            </a:r>
          </a:p>
          <a:p/>
          <a:p>
            <a:r>
              <a:t>Коммуникационная кампания ВЕКТОР обеспечивает присутствие партнера </a:t>
            </a:r>
          </a:p>
          <a:p>
            <a:r>
              <a:t>во всех ключевых точках контакта с аудиторией — до, во время и после ярмарки.</a:t>
            </a:r>
          </a:p>
          <a:p/>
          <a:p/>
          <a:p/>
          <a:p>
            <a:r>
              <a:t>PR ПАРТНЕРА</a:t>
            </a:r>
          </a:p>
          <a:p/>
          <a:p>
            <a:r>
              <a:t>СОБСТВЕННЫЕ КАНАЛЫ</a:t>
            </a:r>
          </a:p>
          <a:p/>
          <a:p/>
          <a:p/>
          <a:p>
            <a:r>
              <a:t>СОБЫТИЙНЫЙ PR</a:t>
            </a:r>
          </a:p>
          <a:p/>
          <a:p/>
          <a:p/>
          <a:p>
            <a:r>
              <a:t>Широкое информационное освещение ярмарки </a:t>
            </a:r>
            <a:br/>
            <a:r>
              <a:t>в ведущих федеральных, деловых, отраслевых и lifestyle-медиа.</a:t>
            </a:r>
          </a:p>
          <a:p/>
          <a:p>
            <a:r>
              <a:t>Интеграция бренда партнера </a:t>
            </a:r>
          </a:p>
          <a:p>
            <a:r>
              <a:t>в общую коммуникационную кампанию ярмарки.</a:t>
            </a:r>
          </a:p>
          <a:p/>
          <a:p>
            <a:r>
              <a:t>Продвижение через все </a:t>
            </a:r>
          </a:p>
          <a:p>
            <a:r>
              <a:t>информационные ресурсы ярмарки на протяжении всей кампании.</a:t>
            </a:r>
          </a:p>
          <a:p/>
          <a:p>
            <a:r>
              <a:t>Специальные медиа-активности, </a:t>
            </a:r>
          </a:p>
          <a:p>
            <a:r>
              <a:t>формирующие дополнительное внимание к ярмарке и партнеру.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Исходное содержание слайда (сохранено для сверки):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Исходное содержание слайда (сохранено для сверки):</a:t>
            </a:r>
          </a:p>
          <a:p/>
          <a:p>
            <a:r>
              <a:t>ВЕКТОР</a:t>
            </a:r>
          </a:p>
          <a:p/>
          <a:p>
            <a:r>
              <a:t>11</a:t>
            </a:r>
          </a:p>
          <a:p/>
          <a:p/>
          <a:p/>
          <a:p>
            <a:r>
              <a:t>ПАРТНЁРСТВО ДЛЯ ГОСТИНИЧНОЙ СЕТИ</a:t>
            </a:r>
          </a:p>
          <a:p/>
          <a:p>
            <a:r>
              <a:t>РАЗМЕЩЕНИЕ УЧАСТНИКОВ И ПРИСУТСТВИЕ БРЕНДА В КУЛЬТУРНОЙ ПОВЕСТКЕ</a:t>
            </a:r>
          </a:p>
          <a:p/>
          <a:p>
            <a:r>
              <a:t>Официальный отельный партнёр принимает представителей зарубежных галерей в Москве. Проживание знакомит гостей с сервисом сети, а коммуникации ярмарки представляют бренд коллекционерам и деловой аудитории.</a:t>
            </a:r>
          </a:p>
          <a:p/>
          <a:p>
            <a:r>
              <a:t>МЕЖДУНАРОДНЫЕ</a:t>
            </a:r>
          </a:p>
          <a:p>
            <a:r>
              <a:t>УЧАСТНИКИ</a:t>
            </a:r>
          </a:p>
          <a:p/>
          <a:p>
            <a:r>
              <a:t>Представители зарубежных галерей</a:t>
            </a:r>
          </a:p>
          <a:p/>
          <a:p>
            <a:r>
              <a:t>Галеристы и арт-дилеры</a:t>
            </a:r>
          </a:p>
          <a:p/>
          <a:p>
            <a:r>
              <a:t>Участники, которые приезжают в Москву на подготовку и проведение ярмарки</a:t>
            </a:r>
          </a:p>
          <a:p/>
          <a:p>
            <a:r>
              <a:t>ПРЕМИАЛЬНАЯ</a:t>
            </a:r>
          </a:p>
          <a:p>
            <a:r>
              <a:t>АУДИТОРИЯ</a:t>
            </a:r>
          </a:p>
          <a:p/>
          <a:p>
            <a:r>
              <a:t>Коллекционеры и предприниматели</a:t>
            </a:r>
          </a:p>
          <a:p/>
          <a:p>
            <a:r>
              <a:t>Руководители компаний</a:t>
            </a:r>
          </a:p>
          <a:p/>
          <a:p>
            <a:r>
              <a:t>VIP-гости и клиенты партнёров</a:t>
            </a:r>
          </a:p>
          <a:p/>
          <a:p>
            <a:r>
              <a:t>Возможность рекомендовать отели сети гостям ярмарки</a:t>
            </a:r>
          </a:p>
          <a:p/>
          <a:p>
            <a:r>
              <a:t>ПОЛЬЗА</a:t>
            </a:r>
          </a:p>
          <a:p>
            <a:r>
              <a:t>ДЛЯ БРЕНДА</a:t>
            </a:r>
          </a:p>
          <a:p/>
          <a:p>
            <a:r>
              <a:t>Личный опыт проживания участников</a:t>
            </a:r>
          </a:p>
          <a:p/>
          <a:p>
            <a:r>
              <a:t>Статус официального отельного партнёра</a:t>
            </a:r>
          </a:p>
          <a:p/>
          <a:p>
            <a:r>
              <a:t>Присутствие в коммуникациях ярмарки</a:t>
            </a:r>
          </a:p>
          <a:p/>
          <a:p>
            <a:r>
              <a:t>Новые контакты в арт-сообществе</a:t>
            </a:r>
          </a:p>
          <a:p/>
          <a:p>
            <a:r>
              <a:t>Отельный партнёр помогает зарубежным галереям приехать на ярмарку</a:t>
            </a:r>
          </a:p>
          <a:p>
            <a:r>
              <a:t>и создаёт первое впечатление участников о гостеприимстве Москвы</a:t>
            </a:r>
          </a:p>
          <a:p/>
          <a:p/>
          <a:p/>
          <a:p/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Исходное содержание слайда (сохранено для сверки):</a:t>
            </a:r>
          </a:p>
          <a:p/>
          <a:p>
            <a:r>
              <a:t>12</a:t>
            </a:r>
          </a:p>
          <a:p/>
          <a:p>
            <a:r>
              <a:t>ПРОГРАММА ДЛЯ КОЛЛЕКЦИОНЕРОВ И ПАРТНЕРОВ</a:t>
            </a:r>
          </a:p>
          <a:p/>
          <a:p>
            <a:r>
              <a:t>ВЕКТОР КАК МЕСТО ВСТРЕЧИ КОЛЛЕКЦИОНЕРОВ, БИЗНЕСА И КУЛЬТУРНЫХ ЛИДЕРОВ</a:t>
            </a:r>
          </a:p>
          <a:p/>
          <a:p>
            <a:r>
              <a:t>Одним из ключевых элементов ярмарки станет закрытая VIP-программа, ориентированная на российских и зарубежных коллекционеров, руководителей компаний, представителей музеев, кураторов и партнеров.</a:t>
            </a:r>
          </a:p>
          <a:p/>
          <a:p>
            <a:r>
              <a:t>VIP-программа превратит ярмарку из выставочного события в площадку для развития профессиональных и деловых отношений.</a:t>
            </a:r>
          </a:p>
          <a:p/>
          <a:p/>
          <a:p>
            <a:r>
              <a:t>▪  Российские и зарубежные коллекционеры.</a:t>
            </a:r>
          </a:p>
          <a:p>
            <a:r>
              <a:t>▪  Клиенты Private Banking.</a:t>
            </a:r>
          </a:p>
          <a:p>
            <a:r>
              <a:t>▪  Владельцы бизнеса и инвесторы.</a:t>
            </a:r>
          </a:p>
          <a:p>
            <a:r>
              <a:t>▪  Руководители музеев и культурных институций.</a:t>
            </a:r>
          </a:p>
          <a:p>
            <a:r>
              <a:t>▪  Кураторы, арт-дилеры и представители международных ярмарок.</a:t>
            </a:r>
          </a:p>
          <a:p/>
          <a:p>
            <a:r>
              <a:t>▪  VIP Preview до официального открытия.</a:t>
            </a:r>
          </a:p>
          <a:p>
            <a:r>
              <a:t>▪  Закрытые коллекционерские ужины.</a:t>
            </a:r>
          </a:p>
          <a:p>
            <a:r>
              <a:t>▪  Экскурсии с кураторами и художниками.</a:t>
            </a:r>
          </a:p>
          <a:p>
            <a:r>
              <a:t>▪  Деловые встречи и networking.</a:t>
            </a:r>
          </a:p>
          <a:p>
            <a:r>
              <a:t>▪  Приемы для международных делегаций.</a:t>
            </a:r>
          </a:p>
          <a:p/>
          <a:p>
            <a:r>
              <a:t>◇</a:t>
            </a:r>
          </a:p>
          <a:p/>
          <a:p>
            <a:r>
              <a:t>▪  Создание комфортной среды для принятия решений о приобретении произведений искусства.</a:t>
            </a:r>
          </a:p>
          <a:p>
            <a:r>
              <a:t>▪  Развитие долгосрочных отношений между галереями, коллекционерами и партнерами.</a:t>
            </a:r>
          </a:p>
          <a:p>
            <a:r>
              <a:t>▪  Повышение статуса ярмарки как ключевого события арт-календаря.</a:t>
            </a:r>
          </a:p>
          <a:p/>
          <a:p>
            <a:r>
              <a:t>Сформировать ежегодное место встречи международного сообщества коллекционеров, </a:t>
            </a:r>
          </a:p>
          <a:p>
            <a:r>
              <a:t>бизнеса и профессиональных участников арт-рынка.</a:t>
            </a:r>
          </a:p>
          <a:p/>
          <a:p>
            <a:r>
              <a:t>ЦЕЛЕВАЯ АУДИТОРИЯ</a:t>
            </a:r>
          </a:p>
          <a:p/>
          <a:p/>
          <a:p/>
          <a:p>
            <a:r>
              <a:t>ФОРМАТЫ МЕРОПРИЯТИЙ</a:t>
            </a:r>
          </a:p>
          <a:p/>
          <a:p/>
          <a:p/>
          <a:p>
            <a:r>
              <a:t>КЛЮЧЕВЫЕ РЕЗУЛЬТАТЫ</a:t>
            </a:r>
          </a:p>
          <a:p/>
          <a:p/>
          <a:p/>
          <a:p>
            <a:r>
              <a:t>Стратегическая цель</a:t>
            </a:r>
          </a:p>
          <a:p/>
          <a:p/>
          <a:p/>
          <a:p>
            <a:r>
              <a:t>ВЕКТОР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Исходное содержание слайда (сохранено для сверки):</a:t>
            </a:r>
          </a:p>
          <a:p/>
          <a:p>
            <a:r>
              <a:t>ВЕКТОР</a:t>
            </a:r>
          </a:p>
          <a:p/>
          <a:p/>
          <a:p/>
          <a:p>
            <a:r>
              <a:t>13</a:t>
            </a:r>
          </a:p>
          <a:p/>
          <a:p>
            <a:r>
              <a:t>ОФИЦИАЛЬНЫЙ ОТЕЛЬНЫЙ ПАРТНЁР</a:t>
            </a:r>
          </a:p>
          <a:p/>
          <a:p>
            <a:r>
              <a:t>COSMOS HOTEL GROUP × ВЕКТОР</a:t>
            </a:r>
          </a:p>
          <a:p/>
          <a:p>
            <a:r>
              <a:t>РАЗМЕЩЕНИЕ ЗАРУБЕЖНЫХ ГАЛЕРЕЙ</a:t>
            </a:r>
          </a:p>
          <a:p/>
          <a:p>
            <a:r>
              <a:t>Партнёр предоставляет номерной фонд в отелях Москвы на неделю, охватывающую подготовку и проведение ярмарки.</a:t>
            </a:r>
          </a:p>
          <a:p/>
          <a:p>
            <a:r>
              <a:t>По 2 номера на каждую зарубежную галерею. Организатор собирает списки гостей и координирует размещение с партнёром.</a:t>
            </a:r>
          </a:p>
          <a:p/>
          <a:p>
            <a:r>
              <a:t>50</a:t>
            </a:r>
          </a:p>
          <a:p/>
          <a:p>
            <a:r>
              <a:t>НОМЕРОВ</a:t>
            </a:r>
          </a:p>
          <a:p>
            <a:r>
              <a:t>общий фонд размещения</a:t>
            </a:r>
          </a:p>
          <a:p/>
          <a:p>
            <a:r>
              <a:t>7</a:t>
            </a:r>
          </a:p>
          <a:p/>
          <a:p>
            <a:r>
              <a:t>НОЧЕЙ</a:t>
            </a:r>
          </a:p>
          <a:p>
            <a:r>
              <a:t>в период проведения ярмарки</a:t>
            </a:r>
          </a:p>
          <a:p/>
          <a:p>
            <a:r>
              <a:t>350</a:t>
            </a:r>
          </a:p>
          <a:p/>
          <a:p>
            <a:r>
              <a:t>НОМЕРО-НОЧЕЙ</a:t>
            </a:r>
          </a:p>
          <a:p>
            <a:r>
              <a:t>объём вклада в размещение</a:t>
            </a:r>
          </a:p>
          <a:p/>
          <a:p>
            <a:r>
              <a:t>Конец апреля 2027. Даты, отели, категории номеров и условия проживания согласуем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Исходное содержание слайда (сохранено для сверки):</a:t>
            </a:r>
          </a:p>
          <a:p/>
          <a:p>
            <a:r>
              <a:t>ВЕКТОР</a:t>
            </a:r>
          </a:p>
          <a:p/>
          <a:p/>
          <a:p/>
          <a:p>
            <a:r>
              <a:t>14</a:t>
            </a:r>
          </a:p>
          <a:p/>
          <a:p>
            <a:r>
              <a:t>ПРИСУТСТВИЕ БРЕНДА В КОММУНИКАЦИЯХ</a:t>
            </a:r>
          </a:p>
          <a:p/>
          <a:p>
            <a:r>
              <a:t>ЛОГОТИП И СТАТУС ВО ВСЕХ КОММУНИКАЦИЯХ ОРГАНИЗАТОРА</a:t>
            </a:r>
          </a:p>
          <a:p/>
          <a:p>
            <a:r>
              <a:t>Сайт и цифровые каналы</a:t>
            </a:r>
          </a:p>
          <a:p/>
          <a:p>
            <a:r>
              <a:t>Логотип в партнёрском блоке сайта, социальных сетях и рассылках ярмарки.</a:t>
            </a:r>
          </a:p>
          <a:p/>
          <a:p>
            <a:r>
              <a:t>Печатные материалы и площадка</a:t>
            </a:r>
          </a:p>
          <a:p/>
          <a:p>
            <a:r>
              <a:t>Логотип на приглашениях, в каталоге, навигации и общих партнёрских блоках носителей.</a:t>
            </a:r>
          </a:p>
          <a:p/>
          <a:p>
            <a:r>
              <a:t>Материалы для прессы</a:t>
            </a:r>
          </a:p>
          <a:p/>
          <a:p>
            <a:r>
              <a:t>Упоминание официального отельного партнёра в пресс-релизах и материалах для СМИ.</a:t>
            </a:r>
          </a:p>
          <a:p/>
          <a:p>
            <a:r>
              <a:t>Совместный инфоповод</a:t>
            </a:r>
          </a:p>
          <a:p/>
          <a:p>
            <a:r>
              <a:t>Анонс партнёрства и материал о приёме зарубежных галерей в отелях сети.</a:t>
            </a:r>
          </a:p>
          <a:p/>
          <a:p>
            <a:r>
              <a:t>Присутствие бренда закрепляем в партнёрских блоках материалов ярмарки.</a:t>
            </a:r>
          </a:p>
          <a:p>
            <a:r>
              <a:t>Упоминания в редакционных публикациях зависят от решений СМИ.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Исходное содержание слайда (сохранено для сверки):</a:t>
            </a:r>
          </a:p>
          <a:p/>
          <a:p>
            <a:r>
              <a:t>15</a:t>
            </a:r>
          </a:p>
          <a:p/>
          <a:p>
            <a:r>
              <a:t>ВЕКТОР</a:t>
            </a:r>
          </a:p>
          <a:p/>
          <a:p/>
          <a:p/>
          <a:p>
            <a:r>
              <a:t>УСЛОВИЯ ПАРТНЁРСТВА</a:t>
            </a:r>
          </a:p>
          <a:p/>
          <a:p>
            <a:r>
              <a:t>COSMOS HOTEL GROUP × ВЕКТОР</a:t>
            </a:r>
          </a:p>
          <a:p/>
          <a:p>
            <a:r>
              <a:t>ВКЛАД В РАЗМЕЩЕНИЕ</a:t>
            </a:r>
          </a:p>
          <a:p/>
          <a:p>
            <a:r>
              <a:t>50 номеров</a:t>
            </a:r>
          </a:p>
          <a:p/>
          <a:p>
            <a:r>
              <a:t>на 7 ночей / 350 номеро-ночей</a:t>
            </a:r>
          </a:p>
          <a:p/>
          <a:p>
            <a:r>
              <a:t>Проживание представителей зарубежных галерей</a:t>
            </a:r>
          </a:p>
          <a:p>
            <a:r>
              <a:t>По 2 номера на галерею в пределах общего фонда</a:t>
            </a:r>
          </a:p>
          <a:p/>
          <a:p>
            <a:r>
              <a:t>ДЕНЕЖНЫЙ ВЗНОС</a:t>
            </a:r>
          </a:p>
          <a:p/>
          <a:p>
            <a:r>
              <a:t>1 000 000 ₽</a:t>
            </a:r>
          </a:p>
          <a:p/>
          <a:p>
            <a:r>
              <a:t>В дополнение к номерному фонду</a:t>
            </a:r>
          </a:p>
          <a:p>
            <a:r>
              <a:t>Без учёта НДС</a:t>
            </a:r>
          </a:p>
          <a:p/>
          <a:p>
            <a:r>
              <a:t>ПАКЕТ ПАРТНЁРА</a:t>
            </a:r>
          </a:p>
          <a:p/>
          <a:p>
            <a:r>
              <a:t>Статус официального отельного партнёра ВЕКТОРА</a:t>
            </a:r>
          </a:p>
          <a:p>
            <a:r>
              <a:t>Логотип и упоминание во всех коммуникациях организатора</a:t>
            </a:r>
          </a:p>
          <a:p>
            <a:r>
              <a:t>До 10 приглашений на VIP Preview и до 30 приглашений в дни ярмарки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A1A1A6"/>
                </a:solidFill>
                <a:latin typeface="Arial"/>
              </a:defRPr>
            </a:pPr>
            <a:r>
              <a:t>ВЕКТОР  /  COSMOS HOTEL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560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A1A1A6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071E3"/>
                </a:solidFill>
                <a:latin typeface="Arial"/>
              </a:defRPr>
            </a:pPr>
            <a:r>
              <a:t>ПРЕДЛОЖЕНИЕ О ПАРТНЁРСТВЕ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109728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0" b="1">
                <a:solidFill>
                  <a:srgbClr val="FFFFFF"/>
                </a:solidFill>
                <a:latin typeface="Arial"/>
              </a:defRPr>
            </a:pPr>
            <a:r>
              <a:t>ВЕКТОР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337560"/>
            <a:ext cx="91440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900" b="0">
                <a:solidFill>
                  <a:srgbClr val="D2D2D7"/>
                </a:solidFill>
                <a:latin typeface="Arial"/>
              </a:defRPr>
            </a:pPr>
            <a:r>
              <a:t>Международная ярмарка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2900" b="0">
                <a:solidFill>
                  <a:srgbClr val="D2D2D7"/>
                </a:solidFill>
                <a:latin typeface="Arial"/>
              </a:defRPr>
            </a:pPr>
            <a:r>
              <a:t>современного искусства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9834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Cosmos Hotel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989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700" b="0">
                <a:solidFill>
                  <a:srgbClr val="A1A1A6"/>
                </a:solidFill>
                <a:latin typeface="Arial"/>
              </a:defRPr>
            </a:pPr>
            <a:r>
              <a:t>Конец апреля 2027  ·  Москва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06066"/>
                </a:solidFill>
                <a:latin typeface="Arial"/>
              </a:defRPr>
            </a:pPr>
            <a:r>
              <a:t>ВЕКТОР  /  COSMOS HOTEL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560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0606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071E3"/>
                </a:solidFill>
                <a:latin typeface="Arial"/>
              </a:defRPr>
            </a:pPr>
            <a:r>
              <a:t>О ЯРМАРКЕ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800" b="1">
                <a:solidFill>
                  <a:srgbClr val="1D1D1F"/>
                </a:solidFill>
                <a:latin typeface="Arial"/>
              </a:defRPr>
            </a:pPr>
            <a:r>
              <a:t>Искусство. Международный диалог.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100" b="0">
                <a:solidFill>
                  <a:srgbClr val="606066"/>
                </a:solidFill>
                <a:latin typeface="Arial"/>
              </a:defRPr>
            </a:pPr>
            <a:r>
              <a:t>Ежегодная площадка для галерей, коллекционеров, бизнеса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2100" b="0">
                <a:solidFill>
                  <a:srgbClr val="606066"/>
                </a:solidFill>
                <a:latin typeface="Arial"/>
              </a:defRPr>
            </a:pPr>
            <a:r>
              <a:t>и культурных институций. Строгий кураторский отбор.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520440"/>
            <a:ext cx="3493008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3749039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4600" b="1">
                <a:solidFill>
                  <a:srgbClr val="0071E3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4608576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06066"/>
                </a:solidFill>
                <a:latin typeface="Arial"/>
              </a:defRPr>
            </a:pPr>
            <a:r>
              <a:t>российских и зарубежных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06066"/>
                </a:solidFill>
                <a:latin typeface="Arial"/>
              </a:defRPr>
            </a:pPr>
            <a:r>
              <a:t>галерей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520440"/>
            <a:ext cx="3493008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3749039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4600" b="1">
                <a:solidFill>
                  <a:srgbClr val="0071E3"/>
                </a:solidFill>
                <a:latin typeface="Arial"/>
              </a:defRPr>
            </a:pPr>
            <a:r>
              <a:t>до 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4608576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06066"/>
                </a:solidFill>
                <a:latin typeface="Arial"/>
              </a:defRPr>
            </a:pPr>
            <a:r>
              <a:t>международных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06066"/>
                </a:solidFill>
                <a:latin typeface="Arial"/>
              </a:defRPr>
            </a:pPr>
            <a:r>
              <a:t>участников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3520440"/>
            <a:ext cx="3493008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1" y="3749039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4600" b="1">
                <a:solidFill>
                  <a:srgbClr val="0071E3"/>
                </a:solidFill>
                <a:latin typeface="Arial"/>
              </a:defRPr>
            </a:pPr>
            <a:r>
              <a:t>15 000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4608576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06066"/>
                </a:solidFill>
                <a:latin typeface="Arial"/>
              </a:defRPr>
            </a:pPr>
            <a:r>
              <a:t>посетителей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06066"/>
                </a:solidFill>
                <a:latin typeface="Arial"/>
              </a:defRPr>
            </a:pPr>
            <a:r>
              <a:t>первого выпуска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778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0">
                <a:solidFill>
                  <a:srgbClr val="606066"/>
                </a:solidFill>
                <a:latin typeface="Arial"/>
              </a:defRPr>
            </a:pPr>
            <a:r>
              <a:t>План первого выпуска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53328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700" b="0">
                <a:solidFill>
                  <a:srgbClr val="1D1D1F"/>
                </a:solidFill>
                <a:latin typeface="Arial"/>
              </a:defRPr>
            </a:pPr>
            <a:r>
              <a:t>5 дней, включая VIP-preview  ·  1 художник на стенде  ·  Новый Манеж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06066"/>
                </a:solidFill>
                <a:latin typeface="Arial"/>
              </a:defRPr>
            </a:pPr>
            <a:r>
              <a:t>ВЕКТОР  /  COSMOS HOTEL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560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06066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071E3"/>
                </a:solidFill>
                <a:latin typeface="Arial"/>
              </a:defRPr>
            </a:pPr>
            <a:r>
              <a:t>МЕСТО ПРОВЕДЕНИЯ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800" b="1">
                <a:solidFill>
                  <a:srgbClr val="1D1D1F"/>
                </a:solidFill>
                <a:latin typeface="Arial"/>
              </a:defRPr>
            </a:pPr>
            <a:r>
              <a:t>Новый Манеж.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rcRect l="2067" r="2067"/>
          <a:stretch>
            <a:fillRect/>
          </a:stretch>
        </p:blipFill>
        <p:spPr>
          <a:xfrm>
            <a:off x="4663440" y="2240280"/>
            <a:ext cx="6931152" cy="4069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743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500" b="1">
                <a:solidFill>
                  <a:srgbClr val="1D1D1F"/>
                </a:solidFill>
                <a:latin typeface="Arial"/>
              </a:defRPr>
            </a:pPr>
            <a:r>
              <a:t>В центре Москвы.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000" b="0">
                <a:solidFill>
                  <a:srgbClr val="606066"/>
                </a:solidFill>
                <a:latin typeface="Arial"/>
              </a:defRPr>
            </a:pPr>
            <a:r>
              <a:t>Георгиевский переулок,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035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600" b="1">
                <a:solidFill>
                  <a:srgbClr val="0071E3"/>
                </a:solidFill>
                <a:latin typeface="Arial"/>
              </a:defRPr>
            </a:pPr>
            <a:r>
              <a:t>Апрель 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639165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06066"/>
                </a:solidFill>
                <a:latin typeface="Arial"/>
              </a:defRPr>
            </a:pPr>
            <a:r>
              <a:t>Визуализация из исходной презентации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06066"/>
                </a:solidFill>
                <a:latin typeface="Arial"/>
              </a:defRPr>
            </a:pPr>
            <a:r>
              <a:t>ВЕКТОР  /  COSMOS HOTEL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560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06066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071E3"/>
                </a:solidFill>
                <a:latin typeface="Arial"/>
              </a:defRPr>
            </a:pPr>
            <a:r>
              <a:t>ПОЧЕМУ ВЕКТОР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800" b="1">
                <a:solidFill>
                  <a:srgbClr val="1D1D1F"/>
                </a:solidFill>
                <a:latin typeface="Arial"/>
              </a:defRPr>
            </a:pPr>
            <a:r>
              <a:t>Новые связи. Новые возможности.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788920"/>
            <a:ext cx="3533637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99232"/>
            <a:ext cx="307643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1">
                <a:solidFill>
                  <a:srgbClr val="0071E3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79"/>
            <a:ext cx="3076437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1D1D1F"/>
                </a:solidFill>
                <a:latin typeface="Arial"/>
              </a:defRPr>
            </a:pPr>
            <a:r>
              <a:t>Международная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1D1D1F"/>
                </a:solidFill>
                <a:latin typeface="Arial"/>
              </a:defRPr>
            </a:pPr>
            <a:r>
              <a:t>площадка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97679"/>
            <a:ext cx="3076437" cy="1554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606066"/>
                </a:solidFill>
                <a:latin typeface="Arial"/>
              </a:defRPr>
            </a:pPr>
            <a:r>
              <a:t>Сотрудничество галерей, коллекционеров, музеев и культурных институций.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9165" y="2788920"/>
            <a:ext cx="3533637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7765" y="2999232"/>
            <a:ext cx="307643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1">
                <a:solidFill>
                  <a:srgbClr val="0071E3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7765" y="3383279"/>
            <a:ext cx="3076437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1D1D1F"/>
                </a:solidFill>
                <a:latin typeface="Arial"/>
              </a:defRPr>
            </a:pPr>
            <a:r>
              <a:t>Профессиональный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1D1D1F"/>
                </a:solidFill>
                <a:latin typeface="Arial"/>
              </a:defRPr>
            </a:pPr>
            <a:r>
              <a:t>диалог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7765" y="4297679"/>
            <a:ext cx="3076437" cy="1554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606066"/>
                </a:solidFill>
                <a:latin typeface="Arial"/>
              </a:defRPr>
            </a:pPr>
            <a:r>
              <a:t>Культурный обмен с Азией, Ближним Востоком и другими регионами. Знакомство с международным искусством.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3971" y="2788920"/>
            <a:ext cx="3533637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2571" y="2999232"/>
            <a:ext cx="307643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1">
                <a:solidFill>
                  <a:srgbClr val="0071E3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2571" y="3383279"/>
            <a:ext cx="3076437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1D1D1F"/>
                </a:solidFill>
                <a:latin typeface="Arial"/>
              </a:defRPr>
            </a:pPr>
            <a:r>
              <a:t>Высокие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1D1D1F"/>
                </a:solidFill>
                <a:latin typeface="Arial"/>
              </a:defRPr>
            </a:pPr>
            <a:r>
              <a:t>стандарты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2571" y="4297679"/>
            <a:ext cx="3076437" cy="1554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606066"/>
                </a:solidFill>
                <a:latin typeface="Arial"/>
              </a:defRPr>
            </a:pPr>
            <a:r>
              <a:t>Персональные приглашения, кураторский отбор и ежегодный формат.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06066"/>
                </a:solidFill>
                <a:latin typeface="Arial"/>
              </a:defRPr>
            </a:pPr>
            <a:r>
              <a:t>ВЕКТОР  /  COSMOS HOTEL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560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06066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071E3"/>
                </a:solidFill>
                <a:latin typeface="Arial"/>
              </a:defRPr>
            </a:pPr>
            <a:r>
              <a:t>КОНЦЕПЦИЯ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800" b="1">
                <a:solidFill>
                  <a:srgbClr val="1D1D1F"/>
                </a:solidFill>
                <a:latin typeface="Arial"/>
              </a:defRPr>
            </a:pPr>
            <a:r>
              <a:t>Один стенд. Один художник.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0">
                <a:solidFill>
                  <a:srgbClr val="606066"/>
                </a:solidFill>
                <a:latin typeface="Arial"/>
              </a:defRPr>
            </a:pPr>
            <a:r>
              <a:t>Музейный уровень произведений. До 30 ведущих галерей.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2300" b="0">
                <a:solidFill>
                  <a:srgbClr val="606066"/>
                </a:solidFill>
                <a:latin typeface="Arial"/>
              </a:defRPr>
            </a:pPr>
            <a:r>
              <a:t>Международное участие и культурный обмен.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566160"/>
            <a:ext cx="3533637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76472"/>
            <a:ext cx="307643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1">
                <a:solidFill>
                  <a:srgbClr val="0071E3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3076437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1D1D1F"/>
                </a:solidFill>
                <a:latin typeface="Arial"/>
              </a:defRPr>
            </a:pPr>
            <a:r>
              <a:t>Флагманская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1D1D1F"/>
                </a:solidFill>
                <a:latin typeface="Arial"/>
              </a:defRPr>
            </a:pPr>
            <a:r>
              <a:t>арт-ярмарка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3076437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606066"/>
                </a:solidFill>
                <a:latin typeface="Arial"/>
              </a:defRPr>
            </a:pPr>
            <a:r>
              <a:t>Новый центр притяжения для коллекционеров, бизнеса и институций.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9165" y="3566160"/>
            <a:ext cx="3533637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7765" y="3776472"/>
            <a:ext cx="307643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1">
                <a:solidFill>
                  <a:srgbClr val="0071E3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7765" y="4160520"/>
            <a:ext cx="3076437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1D1D1F"/>
                </a:solidFill>
                <a:latin typeface="Arial"/>
              </a:defRPr>
            </a:pPr>
            <a:r>
              <a:t>Развитие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1D1D1F"/>
                </a:solidFill>
                <a:latin typeface="Arial"/>
              </a:defRPr>
            </a:pPr>
            <a:r>
              <a:t>арт-рынка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7765" y="5074920"/>
            <a:ext cx="3076437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606066"/>
                </a:solidFill>
                <a:latin typeface="Arial"/>
              </a:defRPr>
            </a:pPr>
            <a:r>
              <a:t>Устойчивая платформа для российского и международного искусства.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3971" y="3566160"/>
            <a:ext cx="3533637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2571" y="3776472"/>
            <a:ext cx="307643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1">
                <a:solidFill>
                  <a:srgbClr val="0071E3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2571" y="4160520"/>
            <a:ext cx="3076437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1D1D1F"/>
                </a:solidFill>
                <a:latin typeface="Arial"/>
              </a:defRPr>
            </a:pPr>
            <a:r>
              <a:t>Лидерство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1D1D1F"/>
                </a:solidFill>
                <a:latin typeface="Arial"/>
              </a:defRPr>
            </a:pPr>
            <a:r>
              <a:t>в России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2571" y="5074920"/>
            <a:ext cx="3076437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606066"/>
                </a:solidFill>
                <a:latin typeface="Arial"/>
              </a:defRPr>
            </a:pPr>
            <a:r>
              <a:t>Стратегическая цель — войти в тройку главных арт-ярмарок страны.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1850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0">
                <a:solidFill>
                  <a:srgbClr val="606066"/>
                </a:solidFill>
                <a:latin typeface="Arial"/>
              </a:defRPr>
            </a:pPr>
            <a:r>
              <a:t>Проект реализуется при поддержке Правительства Москвы.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06066"/>
                </a:solidFill>
                <a:latin typeface="Arial"/>
              </a:defRPr>
            </a:pPr>
            <a:r>
              <a:t>ВЕКТОР  /  COSMOS HOTEL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560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06066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071E3"/>
                </a:solidFill>
                <a:latin typeface="Arial"/>
              </a:defRPr>
            </a:pPr>
            <a:r>
              <a:t>ПРИНЦИПЫ ОТБОРА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800" b="1">
                <a:solidFill>
                  <a:srgbClr val="1D1D1F"/>
                </a:solidFill>
                <a:latin typeface="Arial"/>
              </a:defRPr>
            </a:pPr>
            <a:r>
              <a:t>Качество — основа репутации.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560320"/>
            <a:ext cx="5376672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78892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200" b="1">
                <a:solidFill>
                  <a:srgbClr val="1D1D1F"/>
                </a:solidFill>
                <a:latin typeface="Arial"/>
              </a:defRPr>
            </a:pPr>
            <a:r>
              <a:t>Персональные приглашения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3346703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700" b="0">
                <a:solidFill>
                  <a:srgbClr val="606066"/>
                </a:solidFill>
                <a:latin typeface="Arial"/>
              </a:defRPr>
            </a:pPr>
            <a:r>
              <a:t>Галереи приглашаются по результатам кураторского отбора.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60320"/>
            <a:ext cx="5376672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78892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200" b="1">
                <a:solidFill>
                  <a:srgbClr val="1D1D1F"/>
                </a:solidFill>
                <a:latin typeface="Arial"/>
              </a:defRPr>
            </a:pPr>
            <a:r>
              <a:t>Один художник на стенде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3346703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700" b="0">
                <a:solidFill>
                  <a:srgbClr val="606066"/>
                </a:solidFill>
                <a:latin typeface="Arial"/>
              </a:defRPr>
            </a:pPr>
            <a:r>
              <a:t>Цельный персональный проект каждой галереи.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389120"/>
            <a:ext cx="5376672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461772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200" b="1">
                <a:solidFill>
                  <a:srgbClr val="1D1D1F"/>
                </a:solidFill>
                <a:latin typeface="Arial"/>
              </a:defRPr>
            </a:pPr>
            <a:r>
              <a:t>Музейный уровень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5175504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700" b="0">
                <a:solidFill>
                  <a:srgbClr val="606066"/>
                </a:solidFill>
                <a:latin typeface="Arial"/>
              </a:defRPr>
            </a:pPr>
            <a:r>
              <a:t>Произведения и художники высокого профессионального уровня.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389120"/>
            <a:ext cx="5376672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461772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200" b="1">
                <a:solidFill>
                  <a:srgbClr val="1D1D1F"/>
                </a:solidFill>
                <a:latin typeface="Arial"/>
              </a:defRPr>
            </a:pPr>
            <a:r>
              <a:t>Международный состав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5175504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700" b="0">
                <a:solidFill>
                  <a:srgbClr val="606066"/>
                </a:solidFill>
                <a:latin typeface="Arial"/>
              </a:defRPr>
            </a:pPr>
            <a:r>
              <a:t>До 30 галерей и до 40% зарубежных участников — целевой состав.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06066"/>
                </a:solidFill>
                <a:latin typeface="Arial"/>
              </a:defRPr>
            </a:pPr>
            <a:r>
              <a:t>ВЕКТОР  /  COSMOS HOTEL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560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06066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071E3"/>
                </a:solidFill>
                <a:latin typeface="Arial"/>
              </a:defRPr>
            </a:pPr>
            <a:r>
              <a:t>МЕЖДУНАРОДНОЕ УЧАСТИЕ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800" b="1">
                <a:solidFill>
                  <a:srgbClr val="1D1D1F"/>
                </a:solidFill>
                <a:latin typeface="Arial"/>
              </a:defRPr>
            </a:pPr>
            <a:r>
              <a:t>Искусство за пределами границ.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4023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6600" b="1">
                <a:solidFill>
                  <a:srgbClr val="0071E3"/>
                </a:solidFill>
                <a:latin typeface="Arial"/>
              </a:defRPr>
            </a:pPr>
            <a:r>
              <a:t>до 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11880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900" b="0">
                <a:solidFill>
                  <a:srgbClr val="606066"/>
                </a:solidFill>
                <a:latin typeface="Arial"/>
              </a:defRPr>
            </a:pPr>
            <a:r>
              <a:t>зарубежных участников —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900" b="0">
                <a:solidFill>
                  <a:srgbClr val="606066"/>
                </a:solidFill>
                <a:latin typeface="Arial"/>
              </a:defRPr>
            </a:pPr>
            <a:r>
              <a:t>целевой показатель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70916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700" b="0">
                <a:solidFill>
                  <a:srgbClr val="606066"/>
                </a:solidFill>
                <a:latin typeface="Arial"/>
              </a:defRPr>
            </a:pPr>
            <a:r>
              <a:t>Культурный обмен, расширение сети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700" b="0">
                <a:solidFill>
                  <a:srgbClr val="606066"/>
                </a:solidFill>
                <a:latin typeface="Arial"/>
              </a:defRPr>
            </a:pPr>
            <a:r>
              <a:t>партнёров и продвижение российских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700" b="0">
                <a:solidFill>
                  <a:srgbClr val="606066"/>
                </a:solidFill>
                <a:latin typeface="Arial"/>
              </a:defRPr>
            </a:pPr>
            <a:r>
              <a:t>художников на зарубежные рынки.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2560320"/>
            <a:ext cx="6656832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93792" y="270662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1">
                <a:solidFill>
                  <a:srgbClr val="1D1D1F"/>
                </a:solidFill>
                <a:latin typeface="Arial"/>
              </a:defRPr>
            </a:pPr>
            <a:r>
              <a:t>Азия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93792" y="3099815"/>
            <a:ext cx="60350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06066"/>
                </a:solidFill>
                <a:latin typeface="Arial"/>
              </a:defRPr>
            </a:pPr>
            <a:r>
              <a:t>Китай · Вьетнам · Индонезия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06066"/>
                </a:solidFill>
                <a:latin typeface="Arial"/>
              </a:defRPr>
            </a:pPr>
            <a:r>
              <a:t>Индия · Южная Корея · Таиланд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3913631"/>
            <a:ext cx="6656832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4059935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1">
                <a:solidFill>
                  <a:srgbClr val="1D1D1F"/>
                </a:solidFill>
                <a:latin typeface="Arial"/>
              </a:defRPr>
            </a:pPr>
            <a:r>
              <a:t>Ближний Восток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4453127"/>
            <a:ext cx="60350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06066"/>
                </a:solidFill>
                <a:latin typeface="Arial"/>
              </a:defRPr>
            </a:pPr>
            <a:r>
              <a:t>ОАЭ · Катар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5266944"/>
            <a:ext cx="6656832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3792" y="5413248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1">
                <a:solidFill>
                  <a:srgbClr val="1D1D1F"/>
                </a:solidFill>
                <a:latin typeface="Arial"/>
              </a:defRPr>
            </a:pPr>
            <a:r>
              <a:t>Южная Америка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5806440"/>
            <a:ext cx="60350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06066"/>
                </a:solidFill>
                <a:latin typeface="Arial"/>
              </a:defRPr>
            </a:pPr>
            <a:r>
              <a:t>Мексика · Аргентина · Бразилия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06066"/>
                </a:solidFill>
                <a:latin typeface="Arial"/>
              </a:defRPr>
            </a:pPr>
            <a:r>
              <a:t>ВЕКТОР  /  COSMOS HOTEL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560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06066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071E3"/>
                </a:solidFill>
                <a:latin typeface="Arial"/>
              </a:defRPr>
            </a:pPr>
            <a:r>
              <a:t>АУДИТОРИЯ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800" b="1">
                <a:solidFill>
                  <a:srgbClr val="1D1D1F"/>
                </a:solidFill>
                <a:latin typeface="Arial"/>
              </a:defRPr>
            </a:pPr>
            <a:r>
              <a:t>Люди, формирующие культурную повестку.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3474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6000" b="1">
                <a:solidFill>
                  <a:srgbClr val="0071E3"/>
                </a:solidFill>
                <a:latin typeface="Arial"/>
              </a:defRPr>
            </a:pPr>
            <a:r>
              <a:t>20%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100" b="0">
                <a:solidFill>
                  <a:srgbClr val="1D1D1F"/>
                </a:solidFill>
                <a:latin typeface="Arial"/>
              </a:defRPr>
            </a:pPr>
            <a:r>
              <a:t>VIP-гости / HNWI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2100" b="0">
                <a:solidFill>
                  <a:srgbClr val="1D1D1F"/>
                </a:solidFill>
                <a:latin typeface="Arial"/>
              </a:defRPr>
            </a:pPr>
            <a:r>
              <a:t>Коллекционеры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514600"/>
            <a:ext cx="3474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6000" b="1">
                <a:solidFill>
                  <a:srgbClr val="0071E3"/>
                </a:solidFill>
                <a:latin typeface="Arial"/>
              </a:defRPr>
            </a:pPr>
            <a:r>
              <a:t>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56616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100" b="0">
                <a:solidFill>
                  <a:srgbClr val="1D1D1F"/>
                </a:solidFill>
                <a:latin typeface="Arial"/>
              </a:defRPr>
            </a:pPr>
            <a:r>
              <a:t>Профессиональное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2100" b="0">
                <a:solidFill>
                  <a:srgbClr val="1D1D1F"/>
                </a:solidFill>
                <a:latin typeface="Arial"/>
              </a:defRPr>
            </a:pPr>
            <a:r>
              <a:t>сообщество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9" y="2514600"/>
            <a:ext cx="3474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6000" b="1">
                <a:solidFill>
                  <a:srgbClr val="0071E3"/>
                </a:solidFill>
                <a:latin typeface="Arial"/>
              </a:defRPr>
            </a:pPr>
            <a:r>
              <a:t>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59" y="356616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100" b="0">
                <a:solidFill>
                  <a:srgbClr val="1D1D1F"/>
                </a:solidFill>
                <a:latin typeface="Arial"/>
              </a:defRPr>
            </a:pPr>
            <a:r>
              <a:t>Широкая культурная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2100" b="0">
                <a:solidFill>
                  <a:srgbClr val="1D1D1F"/>
                </a:solidFill>
                <a:latin typeface="Arial"/>
              </a:defRPr>
            </a:pPr>
            <a:r>
              <a:t>аудитория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0">
                <a:solidFill>
                  <a:srgbClr val="606066"/>
                </a:solidFill>
                <a:latin typeface="Arial"/>
              </a:defRPr>
            </a:pPr>
            <a:r>
              <a:t>Планируемая структура аудитории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900" b="0">
                <a:solidFill>
                  <a:srgbClr val="606066"/>
                </a:solidFill>
                <a:latin typeface="Arial"/>
              </a:defRPr>
            </a:pPr>
            <a:r>
              <a:t>Коллекционеры · Предприниматели · Private Banking / Family Office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900" b="0">
                <a:solidFill>
                  <a:srgbClr val="606066"/>
                </a:solidFill>
                <a:latin typeface="Arial"/>
              </a:defRPr>
            </a:pPr>
            <a:r>
              <a:t>Архитекторы и дизайнеры · Топ-менеджмент · Государство и институции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06066"/>
                </a:solidFill>
                <a:latin typeface="Arial"/>
              </a:defRPr>
            </a:pPr>
            <a:r>
              <a:t>ВЕКТОР  /  COSMOS HOTEL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560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06066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071E3"/>
                </a:solidFill>
                <a:latin typeface="Arial"/>
              </a:defRPr>
            </a:pPr>
            <a:r>
              <a:t>ПОРТРЕТ ЦЕЛЕВОГО ПОСЕТИТЕЛЯ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800" b="1">
                <a:solidFill>
                  <a:srgbClr val="1D1D1F"/>
                </a:solidFill>
                <a:latin typeface="Arial"/>
              </a:defRPr>
            </a:pPr>
            <a:r>
              <a:t>Аудитория, принимающая решения.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rcRect l="1096" r="1096"/>
          <a:stretch>
            <a:fillRect/>
          </a:stretch>
        </p:blipFill>
        <p:spPr>
          <a:xfrm>
            <a:off x="8549640" y="2240280"/>
            <a:ext cx="3044952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56032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4200" b="1">
                <a:solidFill>
                  <a:srgbClr val="0071E3"/>
                </a:solidFill>
                <a:latin typeface="Arial"/>
              </a:defRPr>
            </a:pPr>
            <a:r>
              <a:t>35–60 лет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1D1D1F"/>
                </a:solidFill>
                <a:latin typeface="Arial"/>
              </a:defRPr>
            </a:pPr>
            <a:r>
              <a:t>Владелец бизнеса. CEO. Инвестор. Коллекционер.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700" b="0">
                <a:solidFill>
                  <a:srgbClr val="606066"/>
                </a:solidFill>
                <a:latin typeface="Arial"/>
              </a:defRPr>
            </a:pPr>
            <a:r>
              <a:t>HNWI / UHNWI · Клиент Private Banking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6344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900" b="0">
                <a:solidFill>
                  <a:srgbClr val="606066"/>
                </a:solidFill>
                <a:latin typeface="Arial"/>
              </a:defRPr>
            </a:pPr>
            <a:r>
              <a:t>Ценит статус, культурный капитал, деловые связи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900" b="0">
                <a:solidFill>
                  <a:srgbClr val="606066"/>
                </a:solidFill>
                <a:latin typeface="Arial"/>
              </a:defRPr>
            </a:pPr>
            <a:r>
              <a:t>и уникальность. Приходит за искусством, новыми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900" b="0">
                <a:solidFill>
                  <a:srgbClr val="606066"/>
                </a:solidFill>
                <a:latin typeface="Arial"/>
              </a:defRPr>
            </a:pPr>
            <a:r>
              <a:t>знакомствами и закрытыми мероприятиями.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4360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0">
                <a:solidFill>
                  <a:srgbClr val="606066"/>
                </a:solidFill>
                <a:latin typeface="Arial"/>
              </a:defRPr>
            </a:pPr>
            <a:r>
              <a:t>Путешествия · Fine dining · Коллекционирование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300" b="0">
                <a:solidFill>
                  <a:srgbClr val="606066"/>
                </a:solidFill>
                <a:latin typeface="Arial"/>
              </a:defRPr>
            </a:pPr>
            <a:r>
              <a:t>Высокая покупательная способность и интерес к премиальным брендам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06066"/>
                </a:solidFill>
                <a:latin typeface="Arial"/>
              </a:defRPr>
            </a:pPr>
            <a:r>
              <a:t>ВЕКТОР  /  COSMOS HOTEL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560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06066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071E3"/>
                </a:solidFill>
                <a:latin typeface="Arial"/>
              </a:defRPr>
            </a:pPr>
            <a:r>
              <a:t>PR И МЕДИАПОДДЕРЖКА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800" b="1">
                <a:solidFill>
                  <a:srgbClr val="1D1D1F"/>
                </a:solidFill>
                <a:latin typeface="Arial"/>
              </a:defRPr>
            </a:pPr>
            <a:r>
              <a:t>Присутствие на каждом этапе.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6400" b="1">
                <a:solidFill>
                  <a:srgbClr val="0071E3"/>
                </a:solidFill>
                <a:latin typeface="Arial"/>
              </a:defRPr>
            </a:pPr>
            <a:r>
              <a:t>1 000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743200"/>
            <a:ext cx="7315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200" b="0">
                <a:solidFill>
                  <a:srgbClr val="606066"/>
                </a:solidFill>
                <a:latin typeface="Arial"/>
              </a:defRPr>
            </a:pPr>
            <a:r>
              <a:t>публикаций и упоминаний — цель кампании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703320"/>
            <a:ext cx="2578608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393192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900" b="1">
                <a:solidFill>
                  <a:srgbClr val="1D1D1F"/>
                </a:solidFill>
                <a:latin typeface="Arial"/>
              </a:defRPr>
            </a:pPr>
            <a:r>
              <a:t>Федеральные СМИ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727448"/>
            <a:ext cx="21488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06066"/>
                </a:solidFill>
                <a:latin typeface="Arial"/>
              </a:defRPr>
            </a:pPr>
            <a:r>
              <a:t>Профильные и деловые медиа, ТВ, радио, новости и обзоры.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3703320"/>
            <a:ext cx="2578608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79" y="393192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900" b="1">
                <a:solidFill>
                  <a:srgbClr val="1D1D1F"/>
                </a:solidFill>
                <a:latin typeface="Arial"/>
              </a:defRPr>
            </a:pPr>
            <a:r>
              <a:t>PR партнёра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79" y="4727448"/>
            <a:ext cx="21488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06066"/>
                </a:solidFill>
                <a:latin typeface="Arial"/>
              </a:defRPr>
            </a:pPr>
            <a:r>
              <a:t>Анонс партнёрства, статус в пресс-материалах и инфоповод о размещении.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3703320"/>
            <a:ext cx="2578608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393192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900" b="1">
                <a:solidFill>
                  <a:srgbClr val="1D1D1F"/>
                </a:solidFill>
                <a:latin typeface="Arial"/>
              </a:defRPr>
            </a:pPr>
            <a:r>
              <a:t>Собственные каналы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4727448"/>
            <a:ext cx="21488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06066"/>
                </a:solidFill>
                <a:latin typeface="Arial"/>
              </a:defRPr>
            </a:pPr>
            <a:r>
              <a:t>Сайт, соцсети, рассылки, каталог, фото и видео.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15984" y="3703320"/>
            <a:ext cx="2578608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393192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900" b="1">
                <a:solidFill>
                  <a:srgbClr val="1D1D1F"/>
                </a:solidFill>
                <a:latin typeface="Arial"/>
              </a:defRPr>
            </a:pPr>
            <a:r>
              <a:t>Событийный 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4727448"/>
            <a:ext cx="21488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06066"/>
                </a:solidFill>
                <a:latin typeface="Arial"/>
              </a:defRPr>
            </a:pPr>
            <a:r>
              <a:t>Пресс-показ, VIP Preview, лидеры мнений и освещение открытия.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0">
                <a:solidFill>
                  <a:srgbClr val="606066"/>
                </a:solidFill>
                <a:latin typeface="Arial"/>
              </a:defRPr>
            </a:pPr>
            <a:r>
              <a:t>До ярмарки. Во время. После.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A1A1A6"/>
                </a:solidFill>
                <a:latin typeface="Arial"/>
              </a:defRPr>
            </a:pPr>
            <a:r>
              <a:t>ВЕКТОР  /  COSMOS HOTEL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560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A1A1A6"/>
                </a:solidFill>
                <a:latin typeface="Arial"/>
              </a:defRPr>
            </a:pPr>
            <a:r>
              <a:t>11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rcRect t="12337" b="12337"/>
          <a:stretch>
            <a:fillRect/>
          </a:stretch>
        </p:blipFill>
        <p:spPr>
          <a:xfrm>
            <a:off x="0" y="731520"/>
            <a:ext cx="12191969" cy="6126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" y="5138928"/>
            <a:ext cx="7223760" cy="1078992"/>
          </a:xfrm>
          <a:prstGeom prst="roundRect">
            <a:avLst>
              <a:gd name="adj" fmla="val 12000"/>
            </a:avLst>
          </a:prstGeom>
          <a:solidFill>
            <a:srgbClr val="09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5404104"/>
            <a:ext cx="6720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Место встречи арт-сообщества.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06066"/>
                </a:solidFill>
                <a:latin typeface="Arial"/>
              </a:defRPr>
            </a:pPr>
            <a:r>
              <a:t>ВЕКТОР  /  COSMOS HOTEL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560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06066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071E3"/>
                </a:solidFill>
                <a:latin typeface="Arial"/>
              </a:defRPr>
            </a:pPr>
            <a:r>
              <a:t>ПАРТНЁРСТВО ДЛЯ ГОСТИНИЧНОЙ СЕТИ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800" b="1">
                <a:solidFill>
                  <a:srgbClr val="1D1D1F"/>
                </a:solidFill>
                <a:latin typeface="Arial"/>
              </a:defRPr>
            </a:pPr>
            <a:r>
              <a:t>Гостеприимство. Искусство. Партнёрство.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100" b="0">
                <a:solidFill>
                  <a:srgbClr val="606066"/>
                </a:solidFill>
                <a:latin typeface="Arial"/>
              </a:defRPr>
            </a:pPr>
            <a:r>
              <a:t>Официальный отельный партнёр принимает зарубежные галереи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2100" b="0">
                <a:solidFill>
                  <a:srgbClr val="606066"/>
                </a:solidFill>
                <a:latin typeface="Arial"/>
              </a:defRPr>
            </a:pPr>
            <a:r>
              <a:t>и знакомит международных гостей с сервисом сети.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429000"/>
            <a:ext cx="3533637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639312"/>
            <a:ext cx="307643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1">
                <a:solidFill>
                  <a:srgbClr val="0071E3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3076437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1D1D1F"/>
                </a:solidFill>
                <a:latin typeface="Arial"/>
              </a:defRPr>
            </a:pPr>
            <a:r>
              <a:t>Международные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1D1D1F"/>
                </a:solidFill>
                <a:latin typeface="Arial"/>
              </a:defRPr>
            </a:pPr>
            <a:r>
              <a:t>участники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37760"/>
            <a:ext cx="3076437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606066"/>
                </a:solidFill>
                <a:latin typeface="Arial"/>
              </a:defRPr>
            </a:pPr>
            <a:r>
              <a:t>Галеристы и арт-дилеры приезжают в Москву на подготовку и проведение ярмарки.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9165" y="3429000"/>
            <a:ext cx="3533637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7765" y="3639312"/>
            <a:ext cx="307643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1">
                <a:solidFill>
                  <a:srgbClr val="0071E3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7765" y="4023360"/>
            <a:ext cx="3076437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1D1D1F"/>
                </a:solidFill>
                <a:latin typeface="Arial"/>
              </a:defRPr>
            </a:pPr>
            <a:r>
              <a:t>Премиальная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1D1D1F"/>
                </a:solidFill>
                <a:latin typeface="Arial"/>
              </a:defRPr>
            </a:pPr>
            <a:r>
              <a:t>аудитория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7765" y="4937760"/>
            <a:ext cx="3076437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606066"/>
                </a:solidFill>
                <a:latin typeface="Arial"/>
              </a:defRPr>
            </a:pPr>
            <a:r>
              <a:t>Коллекционеры, предприниматели, руководители компаний и VIP-гости. Возможность рекомендовать отели сети.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3971" y="3429000"/>
            <a:ext cx="3533637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2571" y="3639312"/>
            <a:ext cx="307643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1">
                <a:solidFill>
                  <a:srgbClr val="0071E3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2571" y="4023360"/>
            <a:ext cx="3076437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1D1D1F"/>
                </a:solidFill>
                <a:latin typeface="Arial"/>
              </a:defRPr>
            </a:pPr>
            <a:r>
              <a:t>Польза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1D1D1F"/>
                </a:solidFill>
                <a:latin typeface="Arial"/>
              </a:defRPr>
            </a:pPr>
            <a:r>
              <a:t>для бренда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2571" y="4937760"/>
            <a:ext cx="3076437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606066"/>
                </a:solidFill>
                <a:latin typeface="Arial"/>
              </a:defRPr>
            </a:pPr>
            <a:r>
              <a:t>Личный опыт проживания, статус партнёра, коммуникации ярмарки и контакты в арт-сообществе.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06066"/>
                </a:solidFill>
                <a:latin typeface="Arial"/>
              </a:defRPr>
            </a:pPr>
            <a:r>
              <a:t>ВЕКТОР  /  COSMOS HOTEL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560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06066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071E3"/>
                </a:solidFill>
                <a:latin typeface="Arial"/>
              </a:defRPr>
            </a:pPr>
            <a:r>
              <a:t>ПРОГРАММА ДЛЯ КОЛЛЕКЦИОНЕРОВ И ПАРТНЁРОВ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800" b="1">
                <a:solidFill>
                  <a:srgbClr val="1D1D1F"/>
                </a:solidFill>
                <a:latin typeface="Arial"/>
              </a:defRPr>
            </a:pPr>
            <a:r>
              <a:t>Искусство объединяет.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97480"/>
            <a:ext cx="3533637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307643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1">
                <a:solidFill>
                  <a:srgbClr val="0071E3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3076437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1D1D1F"/>
                </a:solidFill>
                <a:latin typeface="Arial"/>
              </a:defRPr>
            </a:pPr>
            <a:r>
              <a:t>Для кого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3076437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606066"/>
                </a:solidFill>
                <a:latin typeface="Arial"/>
              </a:defRPr>
            </a:pPr>
            <a:r>
              <a:t>Коллекционеры, Private Banking, предприниматели, музеи, кураторы, арт-дилеры и международные партнёры.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9165" y="2697480"/>
            <a:ext cx="3533637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7765" y="2907792"/>
            <a:ext cx="307643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1">
                <a:solidFill>
                  <a:srgbClr val="0071E3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7765" y="3291840"/>
            <a:ext cx="3076437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1D1D1F"/>
                </a:solidFill>
                <a:latin typeface="Arial"/>
              </a:defRPr>
            </a:pPr>
            <a:r>
              <a:t>Форматы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7765" y="4206240"/>
            <a:ext cx="3076437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606066"/>
                </a:solidFill>
                <a:latin typeface="Arial"/>
              </a:defRPr>
            </a:pPr>
            <a:r>
              <a:t>VIP Preview, коллекционерские ужины, экскурсии с художниками и кураторами, networking и приёмы делегаций.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3971" y="2697480"/>
            <a:ext cx="3533637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2571" y="2907792"/>
            <a:ext cx="307643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1">
                <a:solidFill>
                  <a:srgbClr val="0071E3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2571" y="3291840"/>
            <a:ext cx="3076437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1D1D1F"/>
                </a:solidFill>
                <a:latin typeface="Arial"/>
              </a:defRPr>
            </a:pPr>
            <a:r>
              <a:t>Результат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2571" y="4206240"/>
            <a:ext cx="3076437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606066"/>
                </a:solidFill>
                <a:latin typeface="Arial"/>
              </a:defRPr>
            </a:pPr>
            <a:r>
              <a:t>Комфортная среда для приобретения искусства, долгосрочные отношения и ежегодное место встречи сообщества.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A1A1A6"/>
                </a:solidFill>
                <a:latin typeface="Arial"/>
              </a:defRPr>
            </a:pPr>
            <a:r>
              <a:t>ВЕКТОР  /  COSMOS HOTEL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560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A1A1A6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071E3"/>
                </a:solidFill>
                <a:latin typeface="Arial"/>
              </a:defRPr>
            </a:pPr>
            <a:r>
              <a:t>COSMOS HOTEL GROUP × ВЕКТОР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800" b="1">
                <a:solidFill>
                  <a:srgbClr val="FFFFFF"/>
                </a:solidFill>
                <a:latin typeface="Arial"/>
              </a:defRPr>
            </a:pPr>
            <a:r>
              <a:t>Официальный отельный партнёр.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7800" b="1">
                <a:solidFill>
                  <a:srgbClr val="FFFFFF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400" b="0">
                <a:solidFill>
                  <a:srgbClr val="A1A1A6"/>
                </a:solidFill>
                <a:latin typeface="Arial"/>
              </a:defRPr>
            </a:pPr>
            <a:r>
              <a:t>номеров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69748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78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8862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400" b="0">
                <a:solidFill>
                  <a:srgbClr val="A1A1A6"/>
                </a:solidFill>
                <a:latin typeface="Arial"/>
              </a:defRPr>
            </a:pPr>
            <a:r>
              <a:t>ночей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9" y="269748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7800" b="1">
                <a:solidFill>
                  <a:srgbClr val="FFFFFF"/>
                </a:solidFill>
                <a:latin typeface="Arial"/>
              </a:defRPr>
            </a:pPr>
            <a:r>
              <a:t>350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59" y="38862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400" b="0">
                <a:solidFill>
                  <a:srgbClr val="A1A1A6"/>
                </a:solidFill>
                <a:latin typeface="Arial"/>
              </a:defRPr>
            </a:pPr>
            <a:r>
              <a:t>номеро-ночей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920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100" b="0">
                <a:solidFill>
                  <a:srgbClr val="D2D2D7"/>
                </a:solidFill>
                <a:latin typeface="Arial"/>
              </a:defRPr>
            </a:pPr>
            <a:r>
              <a:t>По 2 номера на зарубежную галерею в пределах общего фонда.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2100" b="0">
                <a:solidFill>
                  <a:srgbClr val="D2D2D7"/>
                </a:solidFill>
                <a:latin typeface="Arial"/>
              </a:defRPr>
            </a:pPr>
            <a:r>
              <a:t>Организатор собирает списки гостей и координирует размещение.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0">
                <a:solidFill>
                  <a:srgbClr val="A1A1A6"/>
                </a:solidFill>
                <a:latin typeface="Arial"/>
              </a:defRPr>
            </a:pPr>
            <a:r>
              <a:t>Конец апреля 2027. Даты, отели, категории номеров и условия проживания согласуем отдельно.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06066"/>
                </a:solidFill>
                <a:latin typeface="Arial"/>
              </a:defRPr>
            </a:pPr>
            <a:r>
              <a:t>ВЕКТОР  /  COSMOS HOTEL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560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06066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071E3"/>
                </a:solidFill>
                <a:latin typeface="Arial"/>
              </a:defRPr>
            </a:pPr>
            <a:r>
              <a:t>ПРИСУТСТВИЕ БРЕНДА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800" b="1">
                <a:solidFill>
                  <a:srgbClr val="1D1D1F"/>
                </a:solidFill>
                <a:latin typeface="Arial"/>
              </a:defRPr>
            </a:pPr>
            <a:r>
              <a:t>Логотип. Статус. Совместная история.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468880"/>
            <a:ext cx="5376672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79192"/>
            <a:ext cx="4892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1D1D1F"/>
                </a:solidFill>
                <a:latin typeface="Arial"/>
              </a:defRPr>
            </a:pPr>
            <a:r>
              <a:t>Сайт и цифровые каналы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00984"/>
            <a:ext cx="4892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06066"/>
                </a:solidFill>
                <a:latin typeface="Arial"/>
              </a:defRPr>
            </a:pPr>
            <a:r>
              <a:t>Партнёрские блоки сайта, социальные сети и рассылки.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68880"/>
            <a:ext cx="5376672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679192"/>
            <a:ext cx="4892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1D1D1F"/>
                </a:solidFill>
                <a:latin typeface="Arial"/>
              </a:defRPr>
            </a:pPr>
            <a:r>
              <a:t>Печатные материалы и площадка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300984"/>
            <a:ext cx="4892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06066"/>
                </a:solidFill>
                <a:latin typeface="Arial"/>
              </a:defRPr>
            </a:pPr>
            <a:r>
              <a:t>Приглашения, каталог, навигация и партнёрские блоки носителей.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187952"/>
            <a:ext cx="5376672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398264"/>
            <a:ext cx="4892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1D1D1F"/>
                </a:solidFill>
                <a:latin typeface="Arial"/>
              </a:defRPr>
            </a:pPr>
            <a:r>
              <a:t>Материалы для прессы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20056"/>
            <a:ext cx="4892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06066"/>
                </a:solidFill>
                <a:latin typeface="Arial"/>
              </a:defRPr>
            </a:pPr>
            <a:r>
              <a:t>Статус официального отельного партнёра в пресс-релизах.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187952"/>
            <a:ext cx="5376672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398264"/>
            <a:ext cx="4892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1D1D1F"/>
                </a:solidFill>
                <a:latin typeface="Arial"/>
              </a:defRPr>
            </a:pPr>
            <a:r>
              <a:t>Совместный инфоповод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020056"/>
            <a:ext cx="4892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06066"/>
                </a:solidFill>
                <a:latin typeface="Arial"/>
              </a:defRPr>
            </a:pPr>
            <a:r>
              <a:t>Анонс партнёрства и приём зарубежных галерей в отелях сети.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0">
                <a:solidFill>
                  <a:srgbClr val="606066"/>
                </a:solidFill>
                <a:latin typeface="Arial"/>
              </a:defRPr>
            </a:pPr>
            <a:r>
              <a:t>Присутствие — в коммуникациях организатора. Упоминания в редакционных публикациях зависят от решений СМИ.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06066"/>
                </a:solidFill>
                <a:latin typeface="Arial"/>
              </a:defRPr>
            </a:pPr>
            <a:r>
              <a:t>ВЕКТОР  /  COSMOS HOTEL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560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06066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071E3"/>
                </a:solidFill>
                <a:latin typeface="Arial"/>
              </a:defRPr>
            </a:pPr>
            <a:r>
              <a:t>УСЛОВИЯ ПАРТНЁРСТВА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800" b="1">
                <a:solidFill>
                  <a:srgbClr val="1D1D1F"/>
                </a:solidFill>
                <a:latin typeface="Arial"/>
              </a:defRPr>
            </a:pPr>
            <a:r>
              <a:t>Cosmos Hotel Group × ВЕКТОР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560320"/>
            <a:ext cx="5376672" cy="18470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700" b="0">
                <a:solidFill>
                  <a:srgbClr val="606066"/>
                </a:solidFill>
                <a:latin typeface="Arial"/>
              </a:defRPr>
            </a:pPr>
            <a:r>
              <a:t>Вклад в размещение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10128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100" b="1">
                <a:solidFill>
                  <a:srgbClr val="1D1D1F"/>
                </a:solidFill>
                <a:latin typeface="Arial"/>
              </a:defRPr>
            </a:pPr>
            <a:r>
              <a:t>50 номеров × 7 ночей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8678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400" b="0">
                <a:solidFill>
                  <a:srgbClr val="606066"/>
                </a:solidFill>
                <a:latin typeface="Arial"/>
              </a:defRPr>
            </a:pPr>
            <a:r>
              <a:t>350 номеро-ночей · По 2 номера на галерею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2560320"/>
            <a:ext cx="5394960" cy="18470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700" b="0">
                <a:solidFill>
                  <a:srgbClr val="606066"/>
                </a:solidFill>
                <a:latin typeface="Arial"/>
              </a:defRPr>
            </a:pPr>
            <a:r>
              <a:t>Денежный взнос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3310128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4000" b="1">
                <a:solidFill>
                  <a:srgbClr val="0071E3"/>
                </a:solidFill>
                <a:latin typeface="Arial"/>
              </a:defRPr>
            </a:pPr>
            <a:r>
              <a:t>1 000 000 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398678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400" b="0">
                <a:solidFill>
                  <a:srgbClr val="606066"/>
                </a:solidFill>
                <a:latin typeface="Arial"/>
              </a:defRPr>
            </a:pPr>
            <a:r>
              <a:t>В дополнение к номерному фонду · Без НДС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200" b="1">
                <a:solidFill>
                  <a:srgbClr val="1D1D1F"/>
                </a:solidFill>
                <a:latin typeface="Arial"/>
              </a:defRPr>
            </a:pPr>
            <a:r>
              <a:t>Пакет партнёра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21808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100" b="0">
                <a:solidFill>
                  <a:srgbClr val="606066"/>
                </a:solidFill>
                <a:latin typeface="Arial"/>
              </a:defRPr>
            </a:pPr>
            <a:r>
              <a:t>Статус официального отельного партнёра ВЕКТОРА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2100" b="0">
                <a:solidFill>
                  <a:srgbClr val="606066"/>
                </a:solidFill>
                <a:latin typeface="Arial"/>
              </a:defRPr>
            </a:pPr>
            <a:r>
              <a:t>Логотип и упоминание во всех коммуникациях организатора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2100" b="0">
                <a:solidFill>
                  <a:srgbClr val="606066"/>
                </a:solidFill>
                <a:latin typeface="Arial"/>
              </a:defRPr>
            </a:pPr>
            <a:r>
              <a:t>До 10 приглашений на VIP Preview и до 30 — в дни ярмарки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ВЕКТОР × Cosmos Hotel Group</dc:title>
  <dc:subject>Предложение о партнёрстве</dc:subject>
  <dc:creator>ВЕКТОР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